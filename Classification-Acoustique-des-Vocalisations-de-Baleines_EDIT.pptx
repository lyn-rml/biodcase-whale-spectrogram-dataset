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2" r:id="rId9"/>
    <p:sldId id="268" r:id="rId10"/>
    <p:sldId id="263" r:id="rId11"/>
    <p:sldId id="264" r:id="rId12"/>
    <p:sldId id="265" r:id="rId13"/>
    <p:sldId id="267" r:id="rId14"/>
    <p:sldId id="269" r:id="rId15"/>
  </p:sldIdLst>
  <p:sldSz cx="14630400" cy="8229600"/>
  <p:notesSz cx="8229600" cy="14630400"/>
  <p:embeddedFontLst>
    <p:embeddedFont>
      <p:font typeface="Montserrat Bold" panose="00000800000000000000" pitchFamily="2" charset="-120"/>
      <p:bold r:id="rId17"/>
    </p:embeddedFont>
    <p:embeddedFont>
      <p:font typeface="Bell MT" panose="02020503060305020303" pitchFamily="18" charset="0"/>
      <p:regular r:id="rId18"/>
      <p:bold r:id="rId19"/>
      <p:italic r:id="rId20"/>
    </p:embeddedFont>
    <p:embeddedFont>
      <p:font typeface="Source Sans 3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112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1801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5D246-6E44-C7DE-2D41-F8ADBA09F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8D18F4-A9EC-C9BD-EEB8-0D97DAAD67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907F76-5DAF-76FA-78F9-C06FAAE78B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0D9E9-B37A-404C-0789-0E15C5E34A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6897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3F2F4-555D-1727-E1B3-46303338D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72E9D8-90BD-2201-724A-6B837648F9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084B68-F916-767F-7F85-E079085BAC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0F5093-B937-7242-A4CD-BE09717079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8561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2AE00-D3FE-CBB3-164F-CF11F35B9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0B9E23-BAC1-A789-4342-1B39FD6B05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760749-D377-2936-B8FE-ACE68213FD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26F552-8618-6F16-8B22-F3FED8397F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9828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FB3FE-1D12-911E-7CA1-2754E8E36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487D13-1916-4BB7-FDDB-20C9C599B8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D3F615-F8F9-3B53-EB79-B0095D1649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74120F-6FFE-3883-07CD-C5BD7F8C03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293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552843" y="1902988"/>
            <a:ext cx="7416403" cy="2805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Classification Acoustique des Vocalisations de Baleines</a:t>
            </a:r>
            <a:endParaRPr lang="en-US" sz="4400" dirty="0"/>
          </a:p>
        </p:txBody>
      </p:sp>
      <p:sp>
        <p:nvSpPr>
          <p:cNvPr id="6" name="Text 2"/>
          <p:cNvSpPr/>
          <p:nvPr/>
        </p:nvSpPr>
        <p:spPr>
          <a:xfrm>
            <a:off x="6552843" y="5078266"/>
            <a:ext cx="74164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Par réseau neuronal MLP</a:t>
            </a:r>
            <a:endParaRPr lang="en-US" sz="1900" dirty="0"/>
          </a:p>
        </p:txBody>
      </p:sp>
      <p:sp>
        <p:nvSpPr>
          <p:cNvPr id="7" name="Shape 3"/>
          <p:cNvSpPr/>
          <p:nvPr/>
        </p:nvSpPr>
        <p:spPr>
          <a:xfrm>
            <a:off x="6552843" y="5726085"/>
            <a:ext cx="1597343" cy="459343"/>
          </a:xfrm>
          <a:prstGeom prst="roundRect">
            <a:avLst>
              <a:gd name="adj" fmla="val 6448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6708458" y="5807643"/>
            <a:ext cx="1286113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COLIN GHANEM</a:t>
            </a:r>
            <a:endParaRPr lang="en-US" sz="1550" dirty="0"/>
          </a:p>
        </p:txBody>
      </p:sp>
      <p:sp>
        <p:nvSpPr>
          <p:cNvPr id="9" name="Shape 5"/>
          <p:cNvSpPr/>
          <p:nvPr/>
        </p:nvSpPr>
        <p:spPr>
          <a:xfrm>
            <a:off x="8273535" y="5726085"/>
            <a:ext cx="2190155" cy="459343"/>
          </a:xfrm>
          <a:prstGeom prst="roundRect">
            <a:avLst>
              <a:gd name="adj" fmla="val 6448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8429149" y="5807643"/>
            <a:ext cx="1878925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MOHAMMAD SWAYDAN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10587038" y="5726085"/>
            <a:ext cx="1362313" cy="459343"/>
          </a:xfrm>
          <a:prstGeom prst="roundRect">
            <a:avLst>
              <a:gd name="adj" fmla="val 6448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10742653" y="5807643"/>
            <a:ext cx="1051084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LYN RAMMAL</a:t>
            </a:r>
            <a:endParaRPr lang="en-US" sz="15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7E5FB93-FDE7-5FFD-85D9-A8AB6C2D87D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511" t="9611" r="39755" b="7194"/>
          <a:stretch>
            <a:fillRect/>
          </a:stretch>
        </p:blipFill>
        <p:spPr>
          <a:xfrm>
            <a:off x="-1098567" y="-1"/>
            <a:ext cx="7287152" cy="835226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60B2D9D-CD86-6198-C29D-F67B055134D3}"/>
              </a:ext>
            </a:extLst>
          </p:cNvPr>
          <p:cNvSpPr/>
          <p:nvPr/>
        </p:nvSpPr>
        <p:spPr>
          <a:xfrm>
            <a:off x="12835054" y="7415561"/>
            <a:ext cx="1706136" cy="713678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242655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Problématique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56178" y="2221587"/>
            <a:ext cx="615029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Nous disposons de fichiers audio </a:t>
            </a: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.wav</a:t>
            </a: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longs contenant plusieurs événements sonores de baleines.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56177" y="3128367"/>
            <a:ext cx="615029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Objectif : classifier chaque événement selon une </a:t>
            </a:r>
            <a:r>
              <a:rPr lang="en-US" sz="190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approche</a:t>
            </a: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</a:p>
          <a:p>
            <a:pPr marL="0" indent="0" algn="l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un-</a:t>
            </a:r>
            <a:r>
              <a:rPr lang="en-US" sz="1900" b="1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contre</a:t>
            </a: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-</a:t>
            </a:r>
            <a:r>
              <a:rPr lang="en-US" sz="1900" b="1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tous</a:t>
            </a: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parmi </a:t>
            </a: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7 classes</a:t>
            </a: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623929" y="2591753"/>
            <a:ext cx="2951678" cy="844272"/>
          </a:xfrm>
          <a:prstGeom prst="roundRect">
            <a:avLst>
              <a:gd name="adj" fmla="val 4385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870746" y="2838569"/>
            <a:ext cx="2458045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bma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0822424" y="2591753"/>
            <a:ext cx="2951798" cy="844272"/>
          </a:xfrm>
          <a:prstGeom prst="roundRect">
            <a:avLst>
              <a:gd name="adj" fmla="val 4385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069241" y="2838569"/>
            <a:ext cx="245816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bmb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623929" y="3682841"/>
            <a:ext cx="2951678" cy="844272"/>
          </a:xfrm>
          <a:prstGeom prst="roundRect">
            <a:avLst>
              <a:gd name="adj" fmla="val 4385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870746" y="3929658"/>
            <a:ext cx="2458045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bmd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0822424" y="3682841"/>
            <a:ext cx="2951798" cy="844272"/>
          </a:xfrm>
          <a:prstGeom prst="roundRect">
            <a:avLst>
              <a:gd name="adj" fmla="val 4385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069241" y="3929658"/>
            <a:ext cx="245816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bmz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623929" y="4773930"/>
            <a:ext cx="2951678" cy="844272"/>
          </a:xfrm>
          <a:prstGeom prst="roundRect">
            <a:avLst>
              <a:gd name="adj" fmla="val 4385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870746" y="5020747"/>
            <a:ext cx="2458045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bp20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10822424" y="4773930"/>
            <a:ext cx="2951798" cy="844272"/>
          </a:xfrm>
          <a:prstGeom prst="roundRect">
            <a:avLst>
              <a:gd name="adj" fmla="val 4385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069241" y="5020747"/>
            <a:ext cx="245816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bp20plus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623929" y="5865019"/>
            <a:ext cx="6150293" cy="844272"/>
          </a:xfrm>
          <a:prstGeom prst="roundRect">
            <a:avLst>
              <a:gd name="adj" fmla="val 4385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870746" y="6111835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bpd</a:t>
            </a:r>
            <a:endParaRPr lang="en-US" sz="22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50FE0A-D126-68B8-81A6-3A8084B57E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991" y="4114800"/>
            <a:ext cx="5739972" cy="3584188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55678BF4-0597-7A3B-9CF7-974253960C89}"/>
              </a:ext>
            </a:extLst>
          </p:cNvPr>
          <p:cNvSpPr/>
          <p:nvPr/>
        </p:nvSpPr>
        <p:spPr>
          <a:xfrm>
            <a:off x="12835054" y="7415561"/>
            <a:ext cx="1706136" cy="713678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154311"/>
            <a:ext cx="3311485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DÉMARCHE — ÉTAPE 1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63798" y="1603653"/>
            <a:ext cx="893075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Découpage des Fichiers Audio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863798" y="3641050"/>
            <a:ext cx="4442936" cy="2468285"/>
          </a:xfrm>
          <a:prstGeom prst="roundRect">
            <a:avLst>
              <a:gd name="adj" fmla="val 1500"/>
            </a:avLst>
          </a:prstGeom>
          <a:solidFill>
            <a:srgbClr val="4D4D5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0967" y="4652248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81106" y="4981813"/>
            <a:ext cx="1808321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800" dirty="0">
                <a:solidFill>
                  <a:srgbClr val="AEAEB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There was an error generating this image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9649658" y="2897148"/>
            <a:ext cx="4124444" cy="2220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Nous avons utilisé </a:t>
            </a: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Pydub</a:t>
            </a: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pour découper chaque fichier </a:t>
            </a: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.wav</a:t>
            </a: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en plusieurs petits fichiers audio, puis les sauvegarder sur le disque pour chaque événement indiqué dans le fichier </a:t>
            </a: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CSV</a:t>
            </a: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correspondant.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9649658" y="5395793"/>
            <a:ext cx="4124444" cy="1401842"/>
          </a:xfrm>
          <a:prstGeom prst="roundRect">
            <a:avLst>
              <a:gd name="adj" fmla="val 2641"/>
            </a:avLst>
          </a:prstGeom>
          <a:solidFill>
            <a:srgbClr val="02234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6475" y="5747385"/>
            <a:ext cx="308491" cy="24681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451783" y="5704284"/>
            <a:ext cx="3075503" cy="747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⏱️</a:t>
            </a:r>
            <a:r>
              <a:rPr lang="en-US" sz="19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Processus de découpage : environ </a:t>
            </a:r>
            <a:r>
              <a:rPr lang="en-US" sz="19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 heures</a:t>
            </a:r>
            <a:endParaRPr lang="en-US" sz="19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F59247-397F-ED7D-FBBA-E88029B6E384}"/>
              </a:ext>
            </a:extLst>
          </p:cNvPr>
          <p:cNvSpPr/>
          <p:nvPr/>
        </p:nvSpPr>
        <p:spPr>
          <a:xfrm>
            <a:off x="12835054" y="7415561"/>
            <a:ext cx="1706136" cy="713678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154668"/>
            <a:ext cx="3366968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DÉMARCHE — ÉTAPE 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63798" y="1604010"/>
            <a:ext cx="9693593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Génération des Spectrogrammes</a:t>
            </a:r>
            <a:endParaRPr lang="en-US" sz="4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798" y="2675453"/>
            <a:ext cx="4300895" cy="98726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10615" y="3909536"/>
            <a:ext cx="2959298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Problème rencontré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10615" y="4408170"/>
            <a:ext cx="3807262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Saturation de la RAM et pics d'utilisation CPU dans un fichier .ipynb</a:t>
            </a:r>
            <a:endParaRPr lang="en-US" sz="1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4693" y="2675453"/>
            <a:ext cx="4300895" cy="98726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11510" y="3909536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Première solution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411510" y="4408170"/>
            <a:ext cx="3807262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Passage d'un fichier .ipynb à un script .py</a:t>
            </a:r>
            <a:endParaRPr lang="en-US" sz="1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5588" y="2675453"/>
            <a:ext cx="4301014" cy="98726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712404" y="3909536"/>
            <a:ext cx="2822258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Optimisation finale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9712404" y="4408170"/>
            <a:ext cx="3807381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Sauvegarde en matrices 2D au format .npy au lieu d'images</a:t>
            </a:r>
            <a:endParaRPr lang="en-US" sz="1900" dirty="0"/>
          </a:p>
        </p:txBody>
      </p:sp>
      <p:sp>
        <p:nvSpPr>
          <p:cNvPr id="13" name="Shape 8"/>
          <p:cNvSpPr/>
          <p:nvPr/>
        </p:nvSpPr>
        <p:spPr>
          <a:xfrm>
            <a:off x="863798" y="6043136"/>
            <a:ext cx="12902803" cy="1031677"/>
          </a:xfrm>
          <a:prstGeom prst="roundRect">
            <a:avLst>
              <a:gd name="adj" fmla="val 3589"/>
            </a:avLst>
          </a:prstGeom>
          <a:solidFill>
            <a:srgbClr val="183A1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0615" y="6394728"/>
            <a:ext cx="308491" cy="24681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665923" y="6351627"/>
            <a:ext cx="11853863" cy="377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⚡</a:t>
            </a:r>
            <a:r>
              <a:rPr lang="en-US" sz="19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Temps d'attente réduit de </a:t>
            </a:r>
            <a:r>
              <a:rPr lang="en-US" sz="19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6 heures à 1 minute</a:t>
            </a:r>
            <a:endParaRPr lang="en-US" sz="19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106FEB-E5E2-A319-430A-D98CF8611893}"/>
              </a:ext>
            </a:extLst>
          </p:cNvPr>
          <p:cNvSpPr/>
          <p:nvPr/>
        </p:nvSpPr>
        <p:spPr>
          <a:xfrm>
            <a:off x="12835054" y="7415561"/>
            <a:ext cx="1706136" cy="713678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8E598-3328-7576-ED84-4F0933FF9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F9FEDCC-D0AE-D439-6870-FA88F23912B3}"/>
              </a:ext>
            </a:extLst>
          </p:cNvPr>
          <p:cNvSpPr/>
          <p:nvPr/>
        </p:nvSpPr>
        <p:spPr>
          <a:xfrm>
            <a:off x="645604" y="569766"/>
            <a:ext cx="10868144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Démonstration des Spectrogrammes</a:t>
            </a:r>
            <a:endParaRPr lang="en-US" sz="4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3D7DD3D-B625-12B4-DC9B-242402219B96}"/>
              </a:ext>
            </a:extLst>
          </p:cNvPr>
          <p:cNvSpPr/>
          <p:nvPr/>
        </p:nvSpPr>
        <p:spPr>
          <a:xfrm>
            <a:off x="785319" y="1361482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Observation du </a:t>
            </a: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motif propre à chaque classe</a:t>
            </a: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correspondant au spectrogramme caractéristique de chacune.</a:t>
            </a:r>
            <a:endParaRPr lang="en-US" sz="19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A76F0644-B76E-40A1-9E97-100ADF7C95EF}"/>
              </a:ext>
            </a:extLst>
          </p:cNvPr>
          <p:cNvSpPr/>
          <p:nvPr/>
        </p:nvSpPr>
        <p:spPr>
          <a:xfrm>
            <a:off x="489349" y="4874631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Classe bma</a:t>
            </a:r>
            <a:endParaRPr lang="en-US" sz="22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025C0320-AC95-635B-450E-66EE84D5ECF7}"/>
              </a:ext>
            </a:extLst>
          </p:cNvPr>
          <p:cNvSpPr/>
          <p:nvPr/>
        </p:nvSpPr>
        <p:spPr>
          <a:xfrm>
            <a:off x="5002211" y="4874632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Classe bmb</a:t>
            </a:r>
            <a:endParaRPr lang="en-US" sz="220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77461EE5-3BD9-1BC6-2BBA-0E713110E03E}"/>
              </a:ext>
            </a:extLst>
          </p:cNvPr>
          <p:cNvSpPr/>
          <p:nvPr/>
        </p:nvSpPr>
        <p:spPr>
          <a:xfrm>
            <a:off x="9515073" y="4879659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Classe bmz</a:t>
            </a:r>
            <a:endParaRPr lang="en-US" sz="22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A1398DE-9FC9-C5D9-4182-ED7C8E1B7A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833" r="7489"/>
          <a:stretch>
            <a:fillRect/>
          </a:stretch>
        </p:blipFill>
        <p:spPr>
          <a:xfrm>
            <a:off x="489349" y="2638404"/>
            <a:ext cx="4263242" cy="199038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5A1E4AC-267C-8B2B-10C6-02E1CA53ABE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655" r="7222"/>
          <a:stretch>
            <a:fillRect/>
          </a:stretch>
        </p:blipFill>
        <p:spPr>
          <a:xfrm>
            <a:off x="4924083" y="2608723"/>
            <a:ext cx="4434735" cy="199038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71414FB-3C23-7D52-8CD4-B23EAF5991C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440"/>
          <a:stretch>
            <a:fillRect/>
          </a:stretch>
        </p:blipFill>
        <p:spPr>
          <a:xfrm>
            <a:off x="9515073" y="2638405"/>
            <a:ext cx="4755038" cy="1990387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22141B08-5F7D-A978-C81B-70CC5AB8907C}"/>
              </a:ext>
            </a:extLst>
          </p:cNvPr>
          <p:cNvSpPr/>
          <p:nvPr/>
        </p:nvSpPr>
        <p:spPr>
          <a:xfrm>
            <a:off x="12835054" y="7415561"/>
            <a:ext cx="1706136" cy="713678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F40E44D-9298-D1DA-3D2C-654CA3D810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5659" y="5476138"/>
            <a:ext cx="5271582" cy="210863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4AE9A48-4BCD-E5A4-F9B0-237685594D6F}"/>
              </a:ext>
            </a:extLst>
          </p:cNvPr>
          <p:cNvSpPr txBox="1"/>
          <p:nvPr/>
        </p:nvSpPr>
        <p:spPr>
          <a:xfrm>
            <a:off x="4505659" y="7630390"/>
            <a:ext cx="7315200" cy="421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Classe </a:t>
            </a:r>
            <a:r>
              <a:rPr lang="en-US" sz="1800" b="1" dirty="0" err="1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bmd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289807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629132"/>
            <a:ext cx="10868144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Suite </a:t>
            </a:r>
            <a:r>
              <a:rPr lang="en-US" sz="4400" b="1" dirty="0" err="1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Démonstration</a:t>
            </a: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des Spectrogrammes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63798" y="6249710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Classe bpd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5445983" y="6243586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Classe bp20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9671328" y="6249710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Classe bp20plus</a:t>
            </a:r>
            <a:endParaRPr lang="en-US" sz="22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305836F-9476-84A8-E64D-2E667C4752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039" t="2668" r="7224" b="-2668"/>
          <a:stretch>
            <a:fillRect/>
          </a:stretch>
        </p:blipFill>
        <p:spPr>
          <a:xfrm>
            <a:off x="753192" y="3565609"/>
            <a:ext cx="4360126" cy="233358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2436837-7AC5-1729-074A-7D61319EA6A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0183"/>
          <a:stretch>
            <a:fillRect/>
          </a:stretch>
        </p:blipFill>
        <p:spPr>
          <a:xfrm>
            <a:off x="9876396" y="3513445"/>
            <a:ext cx="4113229" cy="235657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F2778FB-D4A3-7743-4187-A2A66EEFD6C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6885"/>
          <a:stretch>
            <a:fillRect/>
          </a:stretch>
        </p:blipFill>
        <p:spPr>
          <a:xfrm>
            <a:off x="5206114" y="3612222"/>
            <a:ext cx="4498588" cy="2164996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19C46741-E834-2D08-51CE-4565FF84174C}"/>
              </a:ext>
            </a:extLst>
          </p:cNvPr>
          <p:cNvSpPr/>
          <p:nvPr/>
        </p:nvSpPr>
        <p:spPr>
          <a:xfrm>
            <a:off x="12835054" y="7415561"/>
            <a:ext cx="1706136" cy="713678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6452" y="544798"/>
            <a:ext cx="14234953" cy="1402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Prétraitement : Uniformisation &amp; Normalisation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74227" y="1735541"/>
            <a:ext cx="4661535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Problème 1 — Tailles différentes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74227" y="2154881"/>
            <a:ext cx="6529462" cy="914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Chaque spectrogramme avait une taille différente, incompatible avec l'entrée du modèle.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74588" y="5663284"/>
            <a:ext cx="6150293" cy="2134553"/>
          </a:xfrm>
          <a:prstGeom prst="roundRect">
            <a:avLst>
              <a:gd name="adj" fmla="val 1735"/>
            </a:avLst>
          </a:prstGeom>
          <a:solidFill>
            <a:srgbClr val="2626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897" y="6254344"/>
            <a:ext cx="308491" cy="2468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67697" y="6107183"/>
            <a:ext cx="5101352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Solution :</a:t>
            </a:r>
            <a:r>
              <a:rPr lang="en-US" sz="19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Interpolation bilinéaire (via np.interp) pour redimensionner vers une forme cible commune, basée sur le </a:t>
            </a:r>
            <a:r>
              <a:rPr lang="en-US" sz="19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90e percentile</a:t>
            </a:r>
            <a:r>
              <a:rPr lang="en-US" sz="19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des dimensions fréquence/temps.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925012" y="1525159"/>
            <a:ext cx="3599736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Normalisation — Score Z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623929" y="3773686"/>
            <a:ext cx="6150293" cy="687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endParaRPr lang="en-US" sz="21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5880" y="2791498"/>
            <a:ext cx="6150293" cy="68746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805880" y="4830206"/>
            <a:ext cx="6150293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Statistiques (</a:t>
            </a: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moyenne, écart-type</a:t>
            </a: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) calculées sur le </a:t>
            </a: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jeu d'entraînement</a:t>
            </a: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uniquement, afin d'éviter la </a:t>
            </a: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fuite de données</a:t>
            </a: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9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ECA2A5-BFE8-36BF-DAA7-6F8AA2DA931E}"/>
              </a:ext>
            </a:extLst>
          </p:cNvPr>
          <p:cNvSpPr/>
          <p:nvPr/>
        </p:nvSpPr>
        <p:spPr>
          <a:xfrm>
            <a:off x="12835054" y="7415561"/>
            <a:ext cx="1706136" cy="713678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8B2759F-850E-298E-E7F1-CCCA120DF9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4420" y="3135231"/>
            <a:ext cx="4029075" cy="211455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5CBCF75-E90F-CBDB-1361-0596B9159DB4}"/>
              </a:ext>
            </a:extLst>
          </p:cNvPr>
          <p:cNvCxnSpPr/>
          <p:nvPr/>
        </p:nvCxnSpPr>
        <p:spPr>
          <a:xfrm>
            <a:off x="7404410" y="1525159"/>
            <a:ext cx="0" cy="6247241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143119"/>
            <a:ext cx="11753255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Prétraitement : Données Déséquilibrées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1040916" y="2118851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 err="1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Problème</a:t>
            </a:r>
            <a:r>
              <a:rPr lang="en-US" sz="2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: 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2840115" y="2118851"/>
            <a:ext cx="6809543" cy="50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Les données n'étaient pas équilibrées entre les </a:t>
            </a: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7 classes</a:t>
            </a: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9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FE5FDF-6526-118A-258A-A2C30550922E}"/>
              </a:ext>
            </a:extLst>
          </p:cNvPr>
          <p:cNvSpPr/>
          <p:nvPr/>
        </p:nvSpPr>
        <p:spPr>
          <a:xfrm>
            <a:off x="12835054" y="7415561"/>
            <a:ext cx="1706136" cy="713678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2E87077-A563-A4A1-98E7-D9E404E24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9478" y="2743944"/>
            <a:ext cx="11685080" cy="49570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CF695-8D78-26BC-7FF6-2E853E2C3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529ECC3-B839-5BFD-02D8-19AF278FE2AF}"/>
              </a:ext>
            </a:extLst>
          </p:cNvPr>
          <p:cNvSpPr/>
          <p:nvPr/>
        </p:nvSpPr>
        <p:spPr>
          <a:xfrm>
            <a:off x="863798" y="1143119"/>
            <a:ext cx="11753255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Prétraitement : Données Déséquilibrées</a:t>
            </a:r>
            <a:endParaRPr lang="en-US" sz="44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F5EE836-D740-E75C-6B71-ABBD76CEE88F}"/>
              </a:ext>
            </a:extLst>
          </p:cNvPr>
          <p:cNvSpPr/>
          <p:nvPr/>
        </p:nvSpPr>
        <p:spPr>
          <a:xfrm>
            <a:off x="1040916" y="2118851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1C33AF2-C753-03CC-147C-0DA21918354A}"/>
              </a:ext>
            </a:extLst>
          </p:cNvPr>
          <p:cNvSpPr/>
          <p:nvPr/>
        </p:nvSpPr>
        <p:spPr>
          <a:xfrm>
            <a:off x="1099382" y="2241574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Solution :</a:t>
            </a:r>
            <a:endParaRPr lang="en-US" sz="22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583065B-9703-1E5C-A05F-30224EB4F330}"/>
              </a:ext>
            </a:extLst>
          </p:cNvPr>
          <p:cNvSpPr/>
          <p:nvPr/>
        </p:nvSpPr>
        <p:spPr>
          <a:xfrm>
            <a:off x="1099382" y="3094639"/>
            <a:ext cx="4124444" cy="2220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Utilisation de </a:t>
            </a: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poids de classe</a:t>
            </a: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calculés comme l'inverse de la fréquence, intégrés à la fonction de perte </a:t>
            </a: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CrossEntropyLoss</a:t>
            </a: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pour pénaliser davantage les erreurs sur les classes minoritaires.</a:t>
            </a:r>
            <a:endParaRPr lang="en-US" sz="19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E6057E-6AAF-15D7-0CAC-61DEEB67A4F5}"/>
              </a:ext>
            </a:extLst>
          </p:cNvPr>
          <p:cNvSpPr/>
          <p:nvPr/>
        </p:nvSpPr>
        <p:spPr>
          <a:xfrm>
            <a:off x="12835054" y="7415561"/>
            <a:ext cx="1706136" cy="713678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E1E4176-99EC-EC7C-A532-5BDA583EA6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4483" y="2416893"/>
            <a:ext cx="6208791" cy="4924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524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5927" y="419933"/>
            <a:ext cx="3857863" cy="405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Choix du Modèle : MLP</a:t>
            </a:r>
            <a:endParaRPr lang="en-US" sz="2550" dirty="0"/>
          </a:p>
        </p:txBody>
      </p:sp>
      <p:sp>
        <p:nvSpPr>
          <p:cNvPr id="12" name="Shape 9"/>
          <p:cNvSpPr/>
          <p:nvPr/>
        </p:nvSpPr>
        <p:spPr>
          <a:xfrm>
            <a:off x="640081" y="5505043"/>
            <a:ext cx="2765891" cy="961433"/>
          </a:xfrm>
          <a:prstGeom prst="roundRect">
            <a:avLst>
              <a:gd name="adj" fmla="val 2895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3" name="Text 10"/>
          <p:cNvSpPr/>
          <p:nvPr/>
        </p:nvSpPr>
        <p:spPr>
          <a:xfrm>
            <a:off x="782718" y="5647679"/>
            <a:ext cx="2126012" cy="263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Dropout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82717" y="5932715"/>
            <a:ext cx="2391861" cy="219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0.2 (anti-overfitting)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518350" y="5533167"/>
            <a:ext cx="2765891" cy="961433"/>
          </a:xfrm>
          <a:prstGeom prst="roundRect">
            <a:avLst>
              <a:gd name="adj" fmla="val 2895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6" name="Text 13"/>
          <p:cNvSpPr/>
          <p:nvPr/>
        </p:nvSpPr>
        <p:spPr>
          <a:xfrm>
            <a:off x="3739015" y="5777444"/>
            <a:ext cx="2126012" cy="263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Optimiseur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739014" y="6062480"/>
            <a:ext cx="2391861" cy="219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Adam, lr = 0.001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40081" y="6599094"/>
            <a:ext cx="2765891" cy="961433"/>
          </a:xfrm>
          <a:prstGeom prst="roundRect">
            <a:avLst>
              <a:gd name="adj" fmla="val 2895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9" name="Text 16"/>
          <p:cNvSpPr/>
          <p:nvPr/>
        </p:nvSpPr>
        <p:spPr>
          <a:xfrm>
            <a:off x="782718" y="6741731"/>
            <a:ext cx="2126012" cy="263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Entraînement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82717" y="7026766"/>
            <a:ext cx="2391861" cy="219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15 époques, batch 128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3515130" y="6614678"/>
            <a:ext cx="2765891" cy="961433"/>
          </a:xfrm>
          <a:prstGeom prst="roundRect">
            <a:avLst>
              <a:gd name="adj" fmla="val 2895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2" name="Text 19"/>
          <p:cNvSpPr/>
          <p:nvPr/>
        </p:nvSpPr>
        <p:spPr>
          <a:xfrm>
            <a:off x="3657767" y="6757315"/>
            <a:ext cx="2126012" cy="263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Loss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3657766" y="7042350"/>
            <a:ext cx="2391861" cy="219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CrossEntropyLoss pondérée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824216" y="5669557"/>
            <a:ext cx="4865872" cy="1650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FF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Contrairement</a:t>
            </a:r>
            <a:r>
              <a:rPr lang="en-US" sz="20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à </a:t>
            </a:r>
            <a:r>
              <a:rPr lang="en-US" sz="20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SVM</a:t>
            </a:r>
            <a:r>
              <a:rPr lang="en-US" sz="20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ou </a:t>
            </a:r>
            <a:r>
              <a:rPr lang="en-US" sz="20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Random Forest</a:t>
            </a:r>
            <a:r>
              <a:rPr lang="en-US" sz="20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les réseaux de neurones apprennent des </a:t>
            </a:r>
            <a:r>
              <a:rPr lang="en-US" sz="20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représentations hiérarchiques</a:t>
            </a:r>
            <a:r>
              <a:rPr lang="en-US" sz="20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 motifs </a:t>
            </a:r>
            <a:r>
              <a:rPr lang="en-US" sz="20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spatio-temporels complexes</a:t>
            </a:r>
            <a:r>
              <a:rPr lang="en-US" sz="20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présents dans les données spectrales</a:t>
            </a:r>
            <a:r>
              <a:rPr lang="en-US" sz="2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24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27C5CD2-A866-FF31-7E01-E4CD72D47F71}"/>
              </a:ext>
            </a:extLst>
          </p:cNvPr>
          <p:cNvSpPr/>
          <p:nvPr/>
        </p:nvSpPr>
        <p:spPr>
          <a:xfrm>
            <a:off x="12835054" y="7415561"/>
            <a:ext cx="1706136" cy="713678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A77D9E8-6423-2568-B449-67492C1ECA38}"/>
              </a:ext>
            </a:extLst>
          </p:cNvPr>
          <p:cNvSpPr/>
          <p:nvPr/>
        </p:nvSpPr>
        <p:spPr>
          <a:xfrm>
            <a:off x="724593" y="1208739"/>
            <a:ext cx="3148243" cy="31039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1508447" y="2228303"/>
            <a:ext cx="1604741" cy="228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Entrée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508447" y="2474525"/>
            <a:ext cx="1604741" cy="476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32 768 neurones représentant les caractéristiques brutes.</a:t>
            </a:r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070C623-9974-0BA8-FDC2-92B353095768}"/>
              </a:ext>
            </a:extLst>
          </p:cNvPr>
          <p:cNvSpPr/>
          <p:nvPr/>
        </p:nvSpPr>
        <p:spPr>
          <a:xfrm>
            <a:off x="3958280" y="1253013"/>
            <a:ext cx="3148243" cy="3103962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627449" y="2169677"/>
            <a:ext cx="1604740" cy="228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Couche 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750708" y="2473479"/>
            <a:ext cx="1604740" cy="476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256 neurones, ReLU, connecte et affine les représentations.</a:t>
            </a:r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DA1B45D-3174-349F-503B-C3DC909A1B54}"/>
              </a:ext>
            </a:extLst>
          </p:cNvPr>
          <p:cNvSpPr/>
          <p:nvPr/>
        </p:nvSpPr>
        <p:spPr>
          <a:xfrm>
            <a:off x="7311692" y="1208739"/>
            <a:ext cx="3148243" cy="3103962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 5"/>
          <p:cNvSpPr/>
          <p:nvPr/>
        </p:nvSpPr>
        <p:spPr>
          <a:xfrm>
            <a:off x="8049165" y="2169677"/>
            <a:ext cx="1604741" cy="228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Couche 2</a:t>
            </a:r>
            <a:endParaRPr lang="en-US" sz="2000" dirty="0"/>
          </a:p>
        </p:txBody>
      </p:sp>
      <p:sp>
        <p:nvSpPr>
          <p:cNvPr id="30" name="Text 6"/>
          <p:cNvSpPr/>
          <p:nvPr/>
        </p:nvSpPr>
        <p:spPr>
          <a:xfrm>
            <a:off x="8172423" y="2398486"/>
            <a:ext cx="1604741" cy="635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128 neurones, ReLU, approfondit les caractéristiques apprises.</a:t>
            </a:r>
            <a:endParaRPr lang="en-US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6766B30-67E0-CF91-5E89-FB69901B545C}"/>
              </a:ext>
            </a:extLst>
          </p:cNvPr>
          <p:cNvSpPr/>
          <p:nvPr/>
        </p:nvSpPr>
        <p:spPr>
          <a:xfrm>
            <a:off x="10545379" y="1206798"/>
            <a:ext cx="3148243" cy="3103962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 7"/>
          <p:cNvSpPr/>
          <p:nvPr/>
        </p:nvSpPr>
        <p:spPr>
          <a:xfrm>
            <a:off x="11230314" y="2284081"/>
            <a:ext cx="1604740" cy="228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Sortie</a:t>
            </a:r>
            <a:endParaRPr lang="en-US" sz="2000" dirty="0"/>
          </a:p>
        </p:txBody>
      </p:sp>
      <p:sp>
        <p:nvSpPr>
          <p:cNvPr id="35" name="Text 8"/>
          <p:cNvSpPr/>
          <p:nvPr/>
        </p:nvSpPr>
        <p:spPr>
          <a:xfrm>
            <a:off x="11264592" y="2664275"/>
            <a:ext cx="1604740" cy="31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7 classes, logits pour la classification finale.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806469" y="653020"/>
            <a:ext cx="6752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Métriques d'Évaluation</a:t>
            </a:r>
            <a:endParaRPr lang="en-US" sz="4400" dirty="0"/>
          </a:p>
        </p:txBody>
      </p:sp>
      <p:sp>
        <p:nvSpPr>
          <p:cNvPr id="6" name="Text 2"/>
          <p:cNvSpPr/>
          <p:nvPr/>
        </p:nvSpPr>
        <p:spPr>
          <a:xfrm>
            <a:off x="863798" y="1662669"/>
            <a:ext cx="3026331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Résultats du modèle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863798" y="2140353"/>
            <a:ext cx="11090309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Nous avons calculé la </a:t>
            </a: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matrice de confusion</a:t>
            </a: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pour mesurer les performances par classe.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7559218" y="848162"/>
            <a:ext cx="7416403" cy="814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81.33%</a:t>
            </a:r>
            <a:endParaRPr lang="en-US" sz="6400" dirty="0"/>
          </a:p>
        </p:txBody>
      </p:sp>
      <p:sp>
        <p:nvSpPr>
          <p:cNvPr id="9" name="Text 5"/>
          <p:cNvSpPr/>
          <p:nvPr/>
        </p:nvSpPr>
        <p:spPr>
          <a:xfrm>
            <a:off x="11075777" y="2140353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Précision globale</a:t>
            </a:r>
            <a:endParaRPr lang="en-US" sz="2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10AF9ED-6C74-C13D-81C3-856C1ECCC4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586"/>
          <a:stretch>
            <a:fillRect/>
          </a:stretch>
        </p:blipFill>
        <p:spPr>
          <a:xfrm>
            <a:off x="4182843" y="2799363"/>
            <a:ext cx="5666466" cy="504184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2812114-9A40-B4B6-BDF6-D44C34E4158A}"/>
              </a:ext>
            </a:extLst>
          </p:cNvPr>
          <p:cNvSpPr/>
          <p:nvPr/>
        </p:nvSpPr>
        <p:spPr>
          <a:xfrm>
            <a:off x="12835054" y="7415561"/>
            <a:ext cx="1706136" cy="713678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0294" y="333495"/>
            <a:ext cx="8865037" cy="471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Ajout des Fréquences &amp; Architecture Globale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820294" y="1079606"/>
            <a:ext cx="3520678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Ajout de 2 entrées supplémentaires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1132529" y="1478160"/>
            <a:ext cx="10402610" cy="207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Fréquence </a:t>
            </a:r>
            <a:r>
              <a:rPr lang="en-US" sz="13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basse</a:t>
            </a:r>
            <a:r>
              <a:rPr lang="en-US" sz="13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et fréquence </a:t>
            </a:r>
            <a:r>
              <a:rPr lang="en-US" sz="13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haute</a:t>
            </a:r>
            <a:r>
              <a:rPr lang="en-US" sz="13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 chaque événement ajoutées au modèle.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782587" y="973702"/>
            <a:ext cx="10402610" cy="547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43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78.08%</a:t>
            </a:r>
            <a:endParaRPr lang="en-US" sz="4300" dirty="0"/>
          </a:p>
        </p:txBody>
      </p:sp>
      <p:sp>
        <p:nvSpPr>
          <p:cNvPr id="6" name="Text 4"/>
          <p:cNvSpPr/>
          <p:nvPr/>
        </p:nvSpPr>
        <p:spPr>
          <a:xfrm>
            <a:off x="6585475" y="1641208"/>
            <a:ext cx="10402610" cy="207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Précision après ajout des fréquences</a:t>
            </a:r>
            <a:endParaRPr lang="en-US" sz="13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7083188-3BDC-6837-B102-1964ACDEB9B9}"/>
              </a:ext>
            </a:extLst>
          </p:cNvPr>
          <p:cNvSpPr/>
          <p:nvPr/>
        </p:nvSpPr>
        <p:spPr>
          <a:xfrm>
            <a:off x="12835054" y="7415561"/>
            <a:ext cx="1706136" cy="713678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12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14CC470-0555-27DC-C8D9-50238271B2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279" t="1220" r="-13279" b="-3794"/>
          <a:stretch>
            <a:fillRect/>
          </a:stretch>
        </p:blipFill>
        <p:spPr>
          <a:xfrm>
            <a:off x="4051758" y="2054727"/>
            <a:ext cx="7739859" cy="617487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072E8-2B6A-0D1A-AF95-06584C8FA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>
            <a:extLst>
              <a:ext uri="{FF2B5EF4-FFF2-40B4-BE49-F238E27FC236}">
                <a16:creationId xmlns:a16="http://schemas.microsoft.com/office/drawing/2014/main" id="{DEC1278C-4E4F-1508-354A-C30A901FCB33}"/>
              </a:ext>
            </a:extLst>
          </p:cNvPr>
          <p:cNvSpPr/>
          <p:nvPr/>
        </p:nvSpPr>
        <p:spPr>
          <a:xfrm>
            <a:off x="882908" y="826868"/>
            <a:ext cx="2461855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9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Chaîne globale complète</a:t>
            </a:r>
            <a:endParaRPr lang="en-US" sz="2950" dirty="0"/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E13EB6FC-81B7-5D58-7ED1-777CB16394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865" y="1521069"/>
            <a:ext cx="12329914" cy="5325779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5387C698-657C-BF5C-4A49-6F7825A548A4}"/>
              </a:ext>
            </a:extLst>
          </p:cNvPr>
          <p:cNvSpPr/>
          <p:nvPr/>
        </p:nvSpPr>
        <p:spPr>
          <a:xfrm>
            <a:off x="3882518" y="5550162"/>
            <a:ext cx="1514072" cy="295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Découpage</a:t>
            </a:r>
            <a:endParaRPr lang="en-US" sz="16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44E7B9F5-47BD-1FFB-F604-3A49F7935439}"/>
              </a:ext>
            </a:extLst>
          </p:cNvPr>
          <p:cNvSpPr/>
          <p:nvPr/>
        </p:nvSpPr>
        <p:spPr>
          <a:xfrm>
            <a:off x="3882518" y="5867276"/>
            <a:ext cx="1514072" cy="4341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Extraction des événements audio</a:t>
            </a:r>
            <a:endParaRPr lang="en-US" sz="14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02FB4087-3539-8128-F991-C80EF203C214}"/>
              </a:ext>
            </a:extLst>
          </p:cNvPr>
          <p:cNvSpPr/>
          <p:nvPr/>
        </p:nvSpPr>
        <p:spPr>
          <a:xfrm>
            <a:off x="8783471" y="5436012"/>
            <a:ext cx="1514072" cy="295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Prétraitement</a:t>
            </a:r>
            <a:endParaRPr lang="en-US" sz="16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6F22B065-3FB1-AE5A-DE70-FBB5E15DA25D}"/>
              </a:ext>
            </a:extLst>
          </p:cNvPr>
          <p:cNvSpPr/>
          <p:nvPr/>
        </p:nvSpPr>
        <p:spPr>
          <a:xfrm>
            <a:off x="8783471" y="5812952"/>
            <a:ext cx="1514072" cy="456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Normalisation et ajout de fréquences</a:t>
            </a:r>
            <a:endParaRPr lang="en-US" sz="14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7B7E63B7-0EDC-A0AC-8261-C75ED2EC677A}"/>
              </a:ext>
            </a:extLst>
          </p:cNvPr>
          <p:cNvSpPr/>
          <p:nvPr/>
        </p:nvSpPr>
        <p:spPr>
          <a:xfrm>
            <a:off x="1643620" y="2076665"/>
            <a:ext cx="1514072" cy="295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Chargement</a:t>
            </a:r>
            <a:endParaRPr lang="en-US" sz="16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988A51BE-169E-E7ED-390A-8360DA2F5CBF}"/>
              </a:ext>
            </a:extLst>
          </p:cNvPr>
          <p:cNvSpPr/>
          <p:nvPr/>
        </p:nvSpPr>
        <p:spPr>
          <a:xfrm>
            <a:off x="1643620" y="2533212"/>
            <a:ext cx="1514072" cy="4341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Fichier .wav d'une heure</a:t>
            </a:r>
            <a:endParaRPr lang="en-US" sz="14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35F7A0B6-53C9-D338-EF92-E6EA430BF335}"/>
              </a:ext>
            </a:extLst>
          </p:cNvPr>
          <p:cNvSpPr/>
          <p:nvPr/>
        </p:nvSpPr>
        <p:spPr>
          <a:xfrm>
            <a:off x="11020270" y="2082286"/>
            <a:ext cx="1514072" cy="295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Prédiction</a:t>
            </a:r>
            <a:endParaRPr lang="en-US" sz="16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0540DCAA-4159-E555-80D3-72033EB9AC0E}"/>
              </a:ext>
            </a:extLst>
          </p:cNvPr>
          <p:cNvSpPr/>
          <p:nvPr/>
        </p:nvSpPr>
        <p:spPr>
          <a:xfrm>
            <a:off x="11080169" y="2551802"/>
            <a:ext cx="1514072" cy="4341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MLP détecte l'événement</a:t>
            </a:r>
            <a:endParaRPr lang="en-US" sz="14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DF65C874-DB4B-7992-F9F6-32632E5AA093}"/>
              </a:ext>
            </a:extLst>
          </p:cNvPr>
          <p:cNvSpPr/>
          <p:nvPr/>
        </p:nvSpPr>
        <p:spPr>
          <a:xfrm>
            <a:off x="6206528" y="2156460"/>
            <a:ext cx="1982580" cy="590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Spectrogrammes</a:t>
            </a:r>
            <a:endParaRPr lang="en-US" sz="16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A0BACC27-FDE8-7C98-FEC3-C33F23A15D5D}"/>
              </a:ext>
            </a:extLst>
          </p:cNvPr>
          <p:cNvSpPr/>
          <p:nvPr/>
        </p:nvSpPr>
        <p:spPr>
          <a:xfrm>
            <a:off x="6183532" y="2612811"/>
            <a:ext cx="1982580" cy="434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Enregistrement en .npy</a:t>
            </a:r>
            <a:endParaRPr lang="en-US" sz="14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1226191-B186-4F83-943F-6ABBC2D08D16}"/>
              </a:ext>
            </a:extLst>
          </p:cNvPr>
          <p:cNvSpPr/>
          <p:nvPr/>
        </p:nvSpPr>
        <p:spPr>
          <a:xfrm>
            <a:off x="12835054" y="7415561"/>
            <a:ext cx="1706136" cy="713678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1510091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A51F37-88BC-6F85-B758-ED473F50F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0B2F3A5A-AEA4-3E9C-349D-8CC441C24C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9727" y="0"/>
            <a:ext cx="17417309" cy="838007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53A9640-23D6-DC01-D09C-ED149C4A1160}"/>
              </a:ext>
            </a:extLst>
          </p:cNvPr>
          <p:cNvSpPr/>
          <p:nvPr/>
        </p:nvSpPr>
        <p:spPr>
          <a:xfrm>
            <a:off x="12835054" y="7415561"/>
            <a:ext cx="1706136" cy="713678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C3C0F1-FA81-6531-06A7-B3F5129BB270}"/>
              </a:ext>
            </a:extLst>
          </p:cNvPr>
          <p:cNvSpPr txBox="1"/>
          <p:nvPr/>
        </p:nvSpPr>
        <p:spPr>
          <a:xfrm>
            <a:off x="677825" y="1980399"/>
            <a:ext cx="7315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7200" b="1" i="0" dirty="0">
                <a:solidFill>
                  <a:schemeClr val="accent1"/>
                </a:solidFill>
                <a:effectLst/>
                <a:latin typeface="Bell MT" panose="02020503060305020303" pitchFamily="18" charset="0"/>
              </a:rPr>
              <a:t>Merci </a:t>
            </a:r>
          </a:p>
          <a:p>
            <a:pPr algn="ctr">
              <a:buNone/>
            </a:pPr>
            <a:r>
              <a:rPr lang="en-US" sz="7200" b="1" i="0" dirty="0">
                <a:solidFill>
                  <a:schemeClr val="accent1"/>
                </a:solidFill>
                <a:effectLst/>
                <a:latin typeface="Bell MT" panose="02020503060305020303" pitchFamily="18" charset="0"/>
              </a:rPr>
              <a:t>pour </a:t>
            </a:r>
          </a:p>
          <a:p>
            <a:pPr algn="ctr">
              <a:buNone/>
            </a:pPr>
            <a:r>
              <a:rPr lang="en-US" sz="7200" b="1" i="0" dirty="0" err="1">
                <a:solidFill>
                  <a:schemeClr val="accent1"/>
                </a:solidFill>
                <a:effectLst/>
                <a:latin typeface="Bell MT" panose="02020503060305020303" pitchFamily="18" charset="0"/>
              </a:rPr>
              <a:t>votre</a:t>
            </a:r>
            <a:r>
              <a:rPr lang="en-US" sz="7200" b="1" i="0" dirty="0">
                <a:solidFill>
                  <a:schemeClr val="accent1"/>
                </a:solidFill>
                <a:effectLst/>
                <a:latin typeface="Bell MT" panose="02020503060305020303" pitchFamily="18" charset="0"/>
              </a:rPr>
              <a:t> attention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C866E31-3F99-B625-DC65-69742DEB8F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554" y="1839951"/>
            <a:ext cx="7067846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534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533</Words>
  <Application>Microsoft Office PowerPoint</Application>
  <PresentationFormat>Custom</PresentationFormat>
  <Paragraphs>121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Montserrat Bold</vt:lpstr>
      <vt:lpstr>Arial</vt:lpstr>
      <vt:lpstr>Source Sans 3</vt:lpstr>
      <vt:lpstr>Bell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Lyn Rammal</dc:creator>
  <cp:lastModifiedBy>Lyn Rammal</cp:lastModifiedBy>
  <cp:revision>4</cp:revision>
  <dcterms:created xsi:type="dcterms:W3CDTF">2026-04-21T16:57:06Z</dcterms:created>
  <dcterms:modified xsi:type="dcterms:W3CDTF">2026-04-21T18:59:00Z</dcterms:modified>
</cp:coreProperties>
</file>