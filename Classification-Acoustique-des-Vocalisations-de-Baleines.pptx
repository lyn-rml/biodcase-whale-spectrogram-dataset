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198" y="1973580"/>
            <a:ext cx="7416403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Classification Acoustique des Vocalisations de Baleines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6350198" y="5148858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 réseau neuronal MLP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6350198" y="5796677"/>
            <a:ext cx="1597343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05813" y="5878235"/>
            <a:ext cx="128611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COLIN GHANEM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8070890" y="5796677"/>
            <a:ext cx="2190155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6504" y="5878235"/>
            <a:ext cx="1878925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MOHAMMAD SWAYDAN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10384393" y="5796677"/>
            <a:ext cx="1362313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40008" y="5878235"/>
            <a:ext cx="105108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LYN RAMMAL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4265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Problématique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536150"/>
            <a:ext cx="615029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Nous disposons de fichiers audio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.wav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longs contenant plusieurs événements sonores de baleines.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498533"/>
            <a:ext cx="615029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Objectif : classifier chaque événement selon une approche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un-contre-tous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parmi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classes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23929" y="2591753"/>
            <a:ext cx="295167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7870746" y="2838569"/>
            <a:ext cx="24580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822424" y="2591753"/>
            <a:ext cx="295179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11069241" y="2838569"/>
            <a:ext cx="24581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3929" y="3682841"/>
            <a:ext cx="295167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7870746" y="3929658"/>
            <a:ext cx="24580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822424" y="3682841"/>
            <a:ext cx="295179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9241" y="3929658"/>
            <a:ext cx="24581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bmz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3929" y="4773930"/>
            <a:ext cx="295167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7870746" y="5020747"/>
            <a:ext cx="24580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bp20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822424" y="4773930"/>
            <a:ext cx="295179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6" name="Text 14"/>
          <p:cNvSpPr/>
          <p:nvPr/>
        </p:nvSpPr>
        <p:spPr>
          <a:xfrm>
            <a:off x="11069241" y="5020747"/>
            <a:ext cx="24581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bp20plus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3929" y="5865019"/>
            <a:ext cx="6150293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8" name="Text 16"/>
          <p:cNvSpPr/>
          <p:nvPr/>
        </p:nvSpPr>
        <p:spPr>
          <a:xfrm>
            <a:off x="7870746" y="61118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bpd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54311"/>
            <a:ext cx="331148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DÉMARCHE — ÉTAPE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3798" y="1603653"/>
            <a:ext cx="893075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Découpage des Fichiers Audio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63798" y="3641050"/>
            <a:ext cx="4442936" cy="2468285"/>
          </a:xfrm>
          <a:prstGeom prst="roundRect">
            <a:avLst>
              <a:gd name="adj" fmla="val 1500"/>
            </a:avLst>
          </a:prstGeom>
          <a:solidFill>
            <a:srgbClr val="4D4D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0967" y="465224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81106" y="4981813"/>
            <a:ext cx="18083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649658" y="2897148"/>
            <a:ext cx="4124444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Nous avons utilisé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Pydub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découper chaque fichier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.wav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plusieurs petits fichiers audio, puis les sauvegarder sur le disque pour chaque événement indiqué dans le fichier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CSV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correspondant.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649658" y="5395793"/>
            <a:ext cx="4124444" cy="1401842"/>
          </a:xfrm>
          <a:prstGeom prst="roundRect">
            <a:avLst>
              <a:gd name="adj" fmla="val 2641"/>
            </a:avLst>
          </a:prstGeom>
          <a:solidFill>
            <a:srgbClr val="0223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475" y="5747385"/>
            <a:ext cx="308491" cy="2468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51783" y="5704284"/>
            <a:ext cx="3075503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⏱️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Processus de découpage : environ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heures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54668"/>
            <a:ext cx="336696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DÉMARCHE — ÉTAPE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3798" y="1604010"/>
            <a:ext cx="969359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Génération des Spectrogrammes</a:t>
            </a:r>
            <a:endParaRPr lang="en-US" sz="4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675453"/>
            <a:ext cx="4300895" cy="987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615" y="3909536"/>
            <a:ext cx="295929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Problème rencontré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4408170"/>
            <a:ext cx="380726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Saturation de la RAM et pics d'utilisation CPU dans un fichier .ipynb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693" y="2675453"/>
            <a:ext cx="4300895" cy="9872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1510" y="390953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Première solution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11510" y="4408170"/>
            <a:ext cx="380726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Passage d'un fichier .ipynb à un script .py</a:t>
            </a:r>
            <a:endParaRPr lang="en-US" sz="1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88" y="2675453"/>
            <a:ext cx="4301014" cy="9872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2404" y="3909536"/>
            <a:ext cx="282225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Optimisation finale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2404" y="4408170"/>
            <a:ext cx="380738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Sauvegarde en matrices 2D au format .npy au lieu d'images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863798" y="6043136"/>
            <a:ext cx="12902803" cy="1031677"/>
          </a:xfrm>
          <a:prstGeom prst="roundRect">
            <a:avLst>
              <a:gd name="adj" fmla="val 3589"/>
            </a:avLst>
          </a:prstGeom>
          <a:solidFill>
            <a:srgbClr val="183A1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15" y="6394728"/>
            <a:ext cx="308491" cy="24681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65923" y="6351627"/>
            <a:ext cx="11853863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⚡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Temps d'attente réduit de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heures à 1 minute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29132"/>
            <a:ext cx="1086814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Démonstration des Spectrogrammes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824043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Observation du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motif propre à chaque classe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correspondant au spectrogramme caractéristique de chacune.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3471863"/>
            <a:ext cx="4095274" cy="2531031"/>
          </a:xfrm>
          <a:prstGeom prst="roundRect">
            <a:avLst>
              <a:gd name="adj" fmla="val 1463"/>
            </a:avLst>
          </a:prstGeom>
          <a:solidFill>
            <a:srgbClr val="4D4D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7135" y="4514493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07275" y="4844058"/>
            <a:ext cx="18083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3798" y="624971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bma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67563" y="3471863"/>
            <a:ext cx="4095274" cy="2531031"/>
          </a:xfrm>
          <a:prstGeom prst="roundRect">
            <a:avLst>
              <a:gd name="adj" fmla="val 1463"/>
            </a:avLst>
          </a:prstGeom>
          <a:solidFill>
            <a:srgbClr val="4D4D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4514493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1039" y="4844058"/>
            <a:ext cx="18083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267563" y="624971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bmb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9671328" y="3471863"/>
            <a:ext cx="4095274" cy="2531031"/>
          </a:xfrm>
          <a:prstGeom prst="roundRect">
            <a:avLst>
              <a:gd name="adj" fmla="val 1463"/>
            </a:avLst>
          </a:prstGeom>
          <a:solidFill>
            <a:srgbClr val="4D4D5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65" y="4514493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814804" y="4844058"/>
            <a:ext cx="18083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9671328" y="624971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bmz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91208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Prétraitement : Uniformisation &amp; Normalisation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110746"/>
            <a:ext cx="466153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Problème 1 — Tailles différentes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3708202"/>
            <a:ext cx="615029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Chaque spectrogramme avait une taille différente, incompatible avec l'entrée du modèle.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4726186"/>
            <a:ext cx="6150293" cy="2134553"/>
          </a:xfrm>
          <a:prstGeom prst="roundRect">
            <a:avLst>
              <a:gd name="adj" fmla="val 1735"/>
            </a:avLst>
          </a:prstGeom>
          <a:solidFill>
            <a:srgbClr val="26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5077778"/>
            <a:ext cx="308491" cy="246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5923" y="5034677"/>
            <a:ext cx="5101352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 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Interpolation bilinéaire (via np.interp) pour redimensionner vers une forme cible commune, basée sur le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90e percentile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 dimensions fréquence/temps.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23929" y="3110746"/>
            <a:ext cx="359973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Normalisation — Score Z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23929" y="3773686"/>
            <a:ext cx="6150293" cy="68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endParaRPr lang="en-US" sz="2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929" y="3773686"/>
            <a:ext cx="6150293" cy="6874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3929" y="4773454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Statistiques (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moyenne, écart-type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calculées sur le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jeu d'entraînement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uniquement, afin d'éviter la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fuite de données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43119"/>
            <a:ext cx="1175325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Prétraitement : Données Déséquilibrées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416379"/>
            <a:ext cx="4442936" cy="2468285"/>
          </a:xfrm>
          <a:prstGeom prst="roundRect">
            <a:avLst>
              <a:gd name="adj" fmla="val 1500"/>
            </a:avLst>
          </a:prstGeom>
          <a:solidFill>
            <a:srgbClr val="4D4D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0967" y="4427577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81106" y="4757142"/>
            <a:ext cx="18083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649658" y="246137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Problème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49658" y="3058835"/>
            <a:ext cx="412444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 données n'étaient pas équilibrées entre les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classes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49658" y="404598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49658" y="4643438"/>
            <a:ext cx="4124444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Utilisation de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poids de classe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calculés comme l'inverse de la fréquence, intégrés à la fonction de perte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CrossEntropyLoss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pénaliser davantage les erreurs sur les classes minoritaires.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9641" y="419933"/>
            <a:ext cx="3857863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Choix du Modèle : MLP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008" y="990243"/>
            <a:ext cx="4980384" cy="49802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8753" y="1887270"/>
            <a:ext cx="1604741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Entrée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08753" y="2187687"/>
            <a:ext cx="1604741" cy="47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32 768 neurones représentant les caractéristiques brutes.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25514" y="1887270"/>
            <a:ext cx="1604740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Couche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25514" y="2187687"/>
            <a:ext cx="1604740" cy="47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256 neurones, ReLU, connecte et affine les représentations.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08893" y="4224451"/>
            <a:ext cx="1604741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Couche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8893" y="4524868"/>
            <a:ext cx="1604741" cy="63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128 neurones, ReLU, approfondit les caractéristiques apprises.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25514" y="4383332"/>
            <a:ext cx="1604740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Sortie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25514" y="4683748"/>
            <a:ext cx="1604740" cy="31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classes, logits pour la classification finale.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839641" y="6156008"/>
            <a:ext cx="2109549" cy="739259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13" name="Text 10"/>
          <p:cNvSpPr/>
          <p:nvPr/>
        </p:nvSpPr>
        <p:spPr>
          <a:xfrm>
            <a:off x="2982278" y="6298644"/>
            <a:ext cx="1621512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Dropout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982278" y="6583680"/>
            <a:ext cx="1824276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0.2 (anti-overfitting)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31581" y="6156008"/>
            <a:ext cx="2109549" cy="739259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16" name="Text 13"/>
          <p:cNvSpPr/>
          <p:nvPr/>
        </p:nvSpPr>
        <p:spPr>
          <a:xfrm>
            <a:off x="5174218" y="6298644"/>
            <a:ext cx="1621512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Optimiseur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174218" y="6583680"/>
            <a:ext cx="1824276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Adam, lr = 0.001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839641" y="6977658"/>
            <a:ext cx="2109549" cy="739259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19" name="Text 16"/>
          <p:cNvSpPr/>
          <p:nvPr/>
        </p:nvSpPr>
        <p:spPr>
          <a:xfrm>
            <a:off x="2982278" y="7120295"/>
            <a:ext cx="1621512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Entraînement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982278" y="7405330"/>
            <a:ext cx="1824276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 époques, batch 128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31581" y="6977658"/>
            <a:ext cx="2109549" cy="739259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22" name="Text 19"/>
          <p:cNvSpPr/>
          <p:nvPr/>
        </p:nvSpPr>
        <p:spPr>
          <a:xfrm>
            <a:off x="5174218" y="7120295"/>
            <a:ext cx="1621512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174218" y="7405330"/>
            <a:ext cx="1824276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CrossEntropyLoss pondérée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96889" y="6137434"/>
            <a:ext cx="4301490" cy="506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Contrairement à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les réseaux de neurones apprennent des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représentations hiérarchiques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motifs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spatio-temporels complexes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présents dans les données spectrales.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3798" y="2046923"/>
            <a:ext cx="6752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Métriques d'Évaluation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863798" y="2846903"/>
            <a:ext cx="302633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Résultats du modèle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63798" y="3567708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Nous avons calculé la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matrice de confusion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mesurer les performances par classe.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63798" y="4709041"/>
            <a:ext cx="74164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81.33%</a:t>
            </a:r>
            <a:endParaRPr lang="en-US" sz="6400" dirty="0"/>
          </a:p>
        </p:txBody>
      </p:sp>
      <p:sp>
        <p:nvSpPr>
          <p:cNvPr id="9" name="Text 5"/>
          <p:cNvSpPr/>
          <p:nvPr/>
        </p:nvSpPr>
        <p:spPr>
          <a:xfrm>
            <a:off x="3169563" y="583191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Précision globale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3836" y="456009"/>
            <a:ext cx="8865037" cy="47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Ajout des Fréquences &amp; Architecture Globale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13836" y="971669"/>
            <a:ext cx="3520678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Ajout de 2 entrées supplémentaires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113836" y="1374219"/>
            <a:ext cx="10402610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Fréquence </a:t>
            </a:r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basse</a:t>
            </a:r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et fréquence </a:t>
            </a:r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haute</a:t>
            </a:r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chaque événement ajoutées au modèle.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13836" y="1790224"/>
            <a:ext cx="10402610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78.08%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2113836" y="2503765"/>
            <a:ext cx="10402610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Précision après ajout des fréquences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13836" y="2878693"/>
            <a:ext cx="2461855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Chaîne globale complète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3836" y="3281243"/>
            <a:ext cx="10402610" cy="44933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96195" y="6655675"/>
            <a:ext cx="1544585" cy="25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Découpage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96195" y="6991380"/>
            <a:ext cx="1544585" cy="37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Extraction des événements audio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62291" y="6655675"/>
            <a:ext cx="1544585" cy="25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Prétraitement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62291" y="6991380"/>
            <a:ext cx="1544585" cy="37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Normalisation et ajout de fréquences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18070" y="3686690"/>
            <a:ext cx="1544585" cy="25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Chargement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18070" y="4022395"/>
            <a:ext cx="1544585" cy="37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Fichier .wav d'une heure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481496" y="3686690"/>
            <a:ext cx="1544585" cy="25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Prédiction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81496" y="4022395"/>
            <a:ext cx="1544585" cy="37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MLP détecte l'événement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03858" y="3686690"/>
            <a:ext cx="1544585" cy="51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Spectrogrammes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03858" y="4278080"/>
            <a:ext cx="1544585" cy="37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Enregistrement en .npy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2026-04-21T16:57:06Z</dcterms:created>
  <dcterms:modified xsi:type="dcterms:W3CDTF">2026-04-21T16:57:06Z</dcterms:modified>
</cp:coreProperties>
</file>